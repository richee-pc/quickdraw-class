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01. 🎨 나만의 커스텀 퀵드로우 만들기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AI 원리 + 코딩 실습 + 데이터 편향 체험 + 발표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조선대학교부속고등학교 · 2026 여름방학 고등학생 AISW 교실 · 김다은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02. 수업 목표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퀵드로우 인공지능 원리를 설명할 수 있다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코랩 코드의 핵심 TODO를 직접 작성할 수 있다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데이터 편향의 원인과 개선 방법을 말할 수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03. 6차시 전체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1차시: 도입·핵심 개념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2차시: 데이터 학습/편향 체험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3차시: 미드저니 + 원리 체험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4~5차시: 코랩 실습 + 게임 완성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6차시: 발표·피드백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04. AI의 두 얼굴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생성형 AI: 새로운 결과물 생성 (미드저니)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분류형 AI: 입력을 보고 카테고리 판단 (퀵드로우)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오늘 핵심: 분류형 AI를 내가 직접 만들기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05. 퀵드로우의 핵심 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AI는 그림에서 무엇을 보고 맞힐까?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왜 어떤 그림은 맞고, 어떤 그림은 틀릴까?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데이터를 바꾸면 성능도 바뀔까?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06. 인공지능 4단계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1) 데이터(Data)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2) 학습(Training)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3) 모델(Model)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4) 추론(Inference)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모델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2708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추론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07. 데이터가 성능을 만든다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데이터 다양성이 높을수록 일반화 성능이 좋아짐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한쪽 데이터만 많으면 편향이 발생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편향은 오인식으로 나타난다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08. 수집기 체험 목표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같은 물체를 다양한 방식으로 그려본다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학습 후 오인식 사례를 찾는다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데이터를 보완해 성능 변화를 확인한다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09. 소프트웨어 파이프라인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입력: 그림/스케치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처리: 전처리 + 모델 예측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출력: 확률/정답/피드백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모델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2708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추론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10. 코딩 개념 1: 변수와 리스트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변수: 값을 저장하는 이름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리스트: 여러 값을 순서대로 저장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예: categories, FILTERS, EPOCHS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11. 코딩 개념 2: 함수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반복되는 작업을 묶어 재사용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가독성/유지보수성 향상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예: add_conv_block(), predict()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12. 코딩 개념 3: 배열 shape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입력 shape가 틀리면 학습 오류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이미지 shape: (N, 28, 28, 1)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shape 점검은 디버깅의 시작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13. 전처리 핵심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0~255 픽셀을 0~1로 정규화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Train/Validation/Test 분리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전처리 품질이 정확도에 큰 영향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14. 모델 구조(CNN)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Conv2D: 특징 추출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MaxPooling: 특징 요약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Dense: 최종 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모델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2708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추론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15. 하이퍼파라미터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EPOCHS: 학습 반복 횟수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N_PER_CLASS: 클래스당 데이터 수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FILTERS: 특징맵 개수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16. 학습 지표 읽기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Accuracy: 맞춘 비율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Loss: 틀린 정도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둘을 함께 봐야 안정적으로 판단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17. 과적합(Overfitting)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학습 데이터에만 과하게 맞는 상태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새 데이터 성능 하락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해결: 데이터 다양화/모델 단순화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18. 실습 체크리스트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DIVISOR/CHANNELS 채우기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ACTIVATION/FILTERS 채우기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add_conv_block() TODO 완성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19. 실습 체크리스트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학습 로그(loss/acc) 확인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테스트 정확도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오류 사례 3개 이상 수집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20. 디버깅 가이드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NameError: 위 셀 실행 여부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shape 오류: reshape/channel 확인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성능 낮음: 데이터/파라미터 재점검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21. Gradio 게임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Sketchpad로 입력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Top-3 확률 출력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친구와 링크 공유 테스트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모델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27080" y="1965960"/>
            <a:ext cx="868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추론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22. 미드저니 활용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정답 보상 이미지 제작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클래스별 스타일 통일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힌트 이미지로 UX 향상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23. 프롬프트 실험법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고정 키워드 + 변수 1개만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 3회 비교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어떤 단어가 영향을 주는지 기록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24. 데이터 편향 실험 예시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비슷한 형태만 학습 → 특정 패턴만 맞힘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다양한 형태 추가 → 안정적인 예측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전/후 정확도 비교표 작성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25. 윤리와 책임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데이터 편향은 사용자 경험 왜곡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모델 한계 공개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공정성과 투명성 고려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26. 발표 구성 템플릿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문제: 무엇을 만들었는가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방법: 데이터/코드/설정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결과: 정확도/오류/개선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회고: 다음 실험 계획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27. 발표 루브릭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개념 이해도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코드 작성 참여도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실험과 개선 시도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설명력/협업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28. 팀 활동 가이드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역할: 데이터/코드/디자인/발표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중간 점검: 20분 단위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최종 데모 리허설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29. 실생활 적용 아이디어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교육용 인식 게임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접근성 도구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인터랙티브 전시/콘텐츠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30. 오늘의 핵심 5문장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데이터가 AI 성능을 만든다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코드를 직접 바꿔야 진짜 학습이다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편향은 실험으로 발견/개선할 수 있다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정확도는 기록하고 비교해야 의미가 있다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AI는 성능+책임을 함께 봐야 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31.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질문을 통해 내 모델을 다시 설명해보자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오류 사례를 원리로 연결해보자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다음 확장 아이디어를 공유하자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32. 수고했어요! 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여러분은 오늘 AI 개발의 전체 흐름을 경험했습니다.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이제 여러분만의 프로젝트로 확장해보세요!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조선대학교부속고등학교 · 2026 여름방학 고등학생 AISW 교실 · 김다은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33. 심화: Convolution 직관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작은 필터가 이미지 특징을 스캔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필터는 학습으로 최적화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초기층→중간층→후반층 특징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34. 심화: Pooling의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계산량 감소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위치 변화에 강건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과적합 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35. 심화: 실험 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 1개씩만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결과를 표로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원인-결과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36. 심화: 클래스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너무 비슷한 클래스는 난이도 상승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초반엔 구분 쉬운 클래스 추천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난이도는 점진적으로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37. 심화: 사용자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에러 메시지 친절성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반응 속도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시각적 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38. 심화: Convolution 직관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작은 필터가 이미지 특징을 스캔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필터는 학습으로 최적화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초기층→중간층→후반층 특징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39. 심화: Pooling의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계산량 감소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위치 변화에 강건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과적합 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40. 심화: 실험 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 1개씩만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결과를 표로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원인-결과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41. 심화: 클래스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너무 비슷한 클래스는 난이도 상승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초반엔 구분 쉬운 클래스 추천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난이도는 점진적으로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42. 심화: 사용자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에러 메시지 친절성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반응 속도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시각적 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43. 심화: Convolution 직관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작은 필터가 이미지 특징을 스캔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필터는 학습으로 최적화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초기층→중간층→후반층 특징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44. 심화: Pooling의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계산량 감소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위치 변화에 강건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과적합 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45. 심화: 실험 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 1개씩만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결과를 표로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원인-결과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46. 심화: 클래스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너무 비슷한 클래스는 난이도 상승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초반엔 구분 쉬운 클래스 추천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난이도는 점진적으로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47. 심화: 사용자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에러 메시지 친절성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반응 속도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시각적 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48. 심화: Convolution 직관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작은 필터가 이미지 특징을 스캔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필터는 학습으로 최적화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초기층→중간층→후반층 특징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49. 심화: Pooling의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계산량 감소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위치 변화에 강건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과적합 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50. 심화: 실험 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 1개씩만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결과를 표로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원인-결과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51. 심화: 클래스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너무 비슷한 클래스는 난이도 상승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초반엔 구분 쉬운 클래스 추천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난이도는 점진적으로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52. 심화: 사용자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에러 메시지 친절성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반응 속도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시각적 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53. 심화: Convolution 직관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작은 필터가 이미지 특징을 스캔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필터는 학습으로 최적화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초기층→중간층→후반층 특징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54. 심화: Pooling의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계산량 감소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위치 변화에 강건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과적합 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55. 심화: 실험 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 1개씩만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결과를 표로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원인-결과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56. 심화: 클래스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너무 비슷한 클래스는 난이도 상승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초반엔 구분 쉬운 클래스 추천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난이도는 점진적으로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57. 심화: 사용자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에러 메시지 친절성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반응 속도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시각적 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58. 심화: Convolution 직관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작은 필터가 이미지 특징을 스캔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필터는 학습으로 최적화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초기층→중간층→후반층 특징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59. 심화: Pooling의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계산량 감소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위치 변화에 강건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과적합 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60. 심화: 실험 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 1개씩만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결과를 표로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원인-결과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61. 심화: 클래스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너무 비슷한 클래스는 난이도 상승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초반엔 구분 쉬운 클래스 추천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난이도는 점진적으로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62. 심화: 사용자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에러 메시지 친절성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반응 속도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시각적 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63. 심화: Convolution 직관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작은 필터가 이미지 특징을 스캔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필터는 학습으로 최적화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초기층→중간층→후반층 특징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64. 심화: Pooling의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계산량 감소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위치 변화에 강건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과적합 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65. 심화: 실험 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 1개씩만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결과를 표로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원인-결과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66. 심화: 클래스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너무 비슷한 클래스는 난이도 상승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초반엔 구분 쉬운 클래스 추천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난이도는 점진적으로 증가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67. 심화: 사용자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에러 메시지 친절성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반응 속도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시각적 피드백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68. 심화: Convolution 직관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작은 필터가 이미지 특징을 스캔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필터는 학습으로 최적화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초기층→중간층→후반층 특징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69. 심화: Pooling의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계산량 감소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위치 변화에 강건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과적합 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핵심 키워드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데이터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학습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모델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추론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정확도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• 편향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8404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731520"/>
            <a:ext cx="3657600" cy="2743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0040"/>
            <a:ext cx="11064240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조선대학교부속고등학교 / 2026 여름방학 고등학생 AISW 교실 / 김다은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40AF"/>
                </a:solidFill>
              </a:defRPr>
            </a:pPr>
            <a:r>
              <a:t>70. 심화: 실험 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949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변수 1개씩만 변경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결과를 표로 기록</a:t>
            </a:r>
          </a:p>
          <a:p>
            <a:pPr>
              <a:lnSpc>
                <a:spcPct val="125000"/>
              </a:lnSpc>
              <a:defRPr sz="2300">
                <a:solidFill>
                  <a:srgbClr val="334155"/>
                </a:solidFill>
              </a:defRPr>
            </a:pPr>
            <a:r>
              <a:t>• 원인-결과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BE185D"/>
                </a:solidFill>
              </a:defRPr>
            </a:pPr>
            <a:r>
              <a:t>실습 팁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위에서 아래 순서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TODO 채우고 실행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오류는 메시지부터 확인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✔ 결과를 기록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